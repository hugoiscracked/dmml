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303" r:id="rId3"/>
    <p:sldId id="302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ED0B-948A-5A8B-6CFF-51030A646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977B4-EA9C-A8CF-5F0B-4873D9AFB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2F9A8-0A6C-E30F-B243-F20F8E32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DEEF5-3E79-626D-9ECD-6EC64588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F48B9-E11B-5AD9-C2CA-3A5F033F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50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A67F-C854-0837-B98B-9D968878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F2363-09ED-A4CC-7D93-176C56AE0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896F-5BC5-5C7F-0811-4F5FE6468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84C01-E5B4-9A80-E2A4-2BAC22149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2F892-3A07-A268-003A-A350E9F6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939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83B6-DD7A-EF63-926D-40060CD2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9F349-BA3C-3405-7579-48CCFABC1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B0E08-8965-9404-8954-5D22276A4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93321-7F5B-A70F-8EEC-8D040814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A40A4-9FE1-31C4-E8F9-63D62EA4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7FBE6-18CF-6D4D-0D6D-F484FD42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8370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493B-8398-6409-1CB2-751C6E73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18220-CE78-766E-29AB-20BC568EF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E5C8E-3637-666C-1AB5-A7E275212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600F0-AF15-1DCB-8B9C-097967F7D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1896D3-A78B-D442-8D48-C4CFD8FEC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09A43D-4D23-63E1-343B-9230B7AED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D6B98-CD55-F40E-8EC4-BFE5EB749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DA68A8-2CA6-0E10-9428-07F483DC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14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52A0-8433-88A1-6674-D3C1DF07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A5489E-0E0A-B5CD-D0F3-23DE5B57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B58FE-2319-77EC-C122-58DD5AEF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07951-FCD5-06BF-F0E5-ED0FA340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852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20CEF4-9312-5183-7F60-A74A3223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BEFF3-63E6-3347-A103-84D2FF6C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10C3F-A1E3-12B2-C065-EE6D0209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61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4911D-853A-1006-B113-E6D80911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EA78B-4F4F-433D-EFFE-8F9609D7C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26821-4264-2DCE-D1F8-A388945A4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D43EE-0F85-1B08-8BD3-B449CA479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41213-B362-BA0B-BA1B-3E10A125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F80F4-92F2-12E6-B044-3C8E58F8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97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EA57-FB64-5CC3-8E22-99966DBA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26153-DD92-B000-0DB5-0213BA92C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D4BE0-9DD9-FC59-A434-7421D05D1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F87F8-540E-E12A-21E1-DCB6191A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2327D-F92F-FF06-B3D8-EA036BF5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02CD9-B6EB-04A5-5919-03809938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08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0755-B5F2-8845-0058-2D6CEC94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A861E-132F-6DA8-9542-5A45F2B51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1082B-1418-F422-AFA0-87AF02B9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D4408-6DAC-1F2C-52FB-49893F03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DC1D-00CB-EEFA-FF87-A41C6023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67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3B6C2-F2C5-66FE-CF3A-D44C1EFE22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E2622-B5EC-3968-97F8-E40D7F631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E53D9-E2D7-6EBE-710B-FD6AA8CC7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1E937-3AEB-DAA9-2D83-D0354983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53BDA-7403-6CAE-CA9F-AEAE2B0E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03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C17DB-ED5A-331A-F531-EAF15B13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DE06B-FC63-955C-C1BF-19BC40964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CB2B8-7EAC-A1CE-AB87-7534D9023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C72CE-3028-47A9-9C6C-A6500FD37054}" type="datetimeFigureOut">
              <a:rPr lang="fr-FR" smtClean="0"/>
              <a:t>20/07/2026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E9ABB-E985-AC67-A77E-D339B4E6E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F154-7A8D-D3AF-3431-18814A30F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8A25B-3F85-4D32-9310-0A8A3B4AF652}" type="slidenum">
              <a:rPr lang="fr-FR" smtClean="0"/>
              <a:t>‹#›</a:t>
            </a:fld>
            <a:endParaRPr lang="fr-FR"/>
          </a:p>
        </p:txBody>
      </p:sp>
      <p:sp>
        <p:nvSpPr>
          <p:cNvPr id="900" name="Accent Spine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E6E8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730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122F4-72D1-7659-86E8-C14972AE47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sz="4400" b="1" dirty="0">
                <a:solidFill>
                  <a:schemeClr val="tx1"/>
                </a:solidFill>
              </a:rPr>
              <a:t>Support Vector Machines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5045A-7CFF-E861-0B0D-C08831EF5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sz="2000" b="1" dirty="0">
                <a:solidFill>
                  <a:schemeClr val="accent1"/>
                </a:solidFill>
              </a:rPr>
              <a:t>Data Mining &amp; Machine Learning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Week 3  ·  Lecture 1</a:t>
            </a:r>
          </a:p>
        </p:txBody>
      </p:sp>
    </p:spTree>
    <p:extLst>
      <p:ext uri="{BB962C8B-B14F-4D97-AF65-F5344CB8AC3E}">
        <p14:creationId xmlns:p14="http://schemas.microsoft.com/office/powerpoint/2010/main" val="343748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9E914-731F-CCC7-6CC2-4628250C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9030-8145-BBA9-E4DC-F185AA86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Supervised learning</a:t>
            </a:r>
            <a:endParaRPr lang="fr-FR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7D0AACB-6D67-E4DC-A572-7C65CB2D56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1400"/>
                  </a:spcBef>
                  <a:buFont typeface="Arial"/>
                  <a:buChar char="•"/>
                </a:pPr>
                <a:r>
                  <a:rPr lang="en-US" sz="2000" dirty="0"/>
                  <a:t>We have </a:t>
                </a:r>
                <a:r>
                  <a:rPr lang="en-US" sz="2000" b="1" dirty="0"/>
                  <a:t>features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 and a </a:t>
                </a:r>
                <a:r>
                  <a:rPr lang="en-US" sz="2000" b="1" dirty="0"/>
                  <a:t>target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falls into 2 categories: 0 and 1.</a:t>
                </a:r>
                <a:endParaRPr lang="en-US" sz="2000" b="1" dirty="0"/>
              </a:p>
              <a:p>
                <a:pPr marL="342900" indent="-342900">
                  <a:spcBef>
                    <a:spcPts val="1400"/>
                  </a:spcBef>
                  <a:buFont typeface="Arial"/>
                  <a:buChar char="•"/>
                </a:pP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can be a vector of multiple features.</a:t>
                </a:r>
              </a:p>
              <a:p>
                <a:pPr marL="342900" indent="-342900">
                  <a:spcBef>
                    <a:spcPts val="1400"/>
                  </a:spcBef>
                  <a:buFont typeface="Arial"/>
                  <a:buChar char="•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is continuous, </a:t>
                </a:r>
                <a:r>
                  <a:rPr lang="en-US" sz="2000" b="1" dirty="0"/>
                  <a:t>regression (last lecture)</a:t>
                </a:r>
                <a:r>
                  <a:rPr lang="en-US" sz="2000" dirty="0"/>
                  <a:t>.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is discrete, </a:t>
                </a:r>
                <a:r>
                  <a:rPr lang="en-US" sz="2000" b="1" dirty="0"/>
                  <a:t>classification (this lecture)</a:t>
                </a:r>
                <a:r>
                  <a:rPr lang="en-US" sz="2000" dirty="0"/>
                  <a:t>.</a:t>
                </a:r>
              </a:p>
              <a:p>
                <a:pPr marL="342900" indent="-342900">
                  <a:spcBef>
                    <a:spcPts val="1400"/>
                  </a:spcBef>
                  <a:buFont typeface="Arial"/>
                  <a:buChar char="•"/>
                </a:pPr>
                <a:r>
                  <a:rPr lang="fr-FR" sz="2000" dirty="0"/>
                  <a:t>Example 1: Given the </a:t>
                </a:r>
                <a:r>
                  <a:rPr lang="fr-FR" sz="2000" dirty="0" err="1"/>
                  <a:t>temperature</a:t>
                </a:r>
                <a:r>
                  <a:rPr lang="fr-FR" sz="2000" dirty="0"/>
                  <a:t>, </a:t>
                </a:r>
                <a:r>
                  <a:rPr lang="fr-FR" sz="2000" dirty="0" err="1"/>
                  <a:t>predict</a:t>
                </a:r>
                <a:r>
                  <a:rPr lang="fr-FR" sz="2000" dirty="0"/>
                  <a:t> if </a:t>
                </a:r>
                <a:r>
                  <a:rPr lang="fr-FR" sz="2000" dirty="0" err="1"/>
                  <a:t>it</a:t>
                </a:r>
                <a:r>
                  <a:rPr lang="fr-FR" sz="2000" dirty="0"/>
                  <a:t> </a:t>
                </a:r>
                <a:r>
                  <a:rPr lang="fr-FR" sz="2000" dirty="0" err="1"/>
                  <a:t>is</a:t>
                </a:r>
                <a:r>
                  <a:rPr lang="fr-FR" sz="2000" dirty="0"/>
                  <a:t> a </a:t>
                </a:r>
                <a:r>
                  <a:rPr lang="fr-FR" sz="2000" dirty="0" err="1"/>
                  <a:t>rainy</a:t>
                </a:r>
                <a:r>
                  <a:rPr lang="fr-FR" sz="2000" dirty="0"/>
                  <a:t> </a:t>
                </a:r>
                <a:r>
                  <a:rPr lang="fr-FR" sz="2000" dirty="0" err="1"/>
                  <a:t>day</a:t>
                </a:r>
                <a:r>
                  <a:rPr lang="fr-FR" sz="2000" dirty="0"/>
                  <a:t> (0) or a </a:t>
                </a:r>
                <a:r>
                  <a:rPr lang="fr-FR" sz="2000" dirty="0" err="1"/>
                  <a:t>sunny</a:t>
                </a:r>
                <a:r>
                  <a:rPr lang="fr-FR" sz="2000" dirty="0"/>
                  <a:t> </a:t>
                </a:r>
                <a:r>
                  <a:rPr lang="fr-FR" sz="2000" dirty="0" err="1"/>
                  <a:t>day</a:t>
                </a:r>
                <a:r>
                  <a:rPr lang="fr-FR" sz="2000" dirty="0"/>
                  <a:t> (1).</a:t>
                </a:r>
              </a:p>
              <a:p>
                <a:pPr marL="342900" indent="-342900">
                  <a:spcBef>
                    <a:spcPts val="1400"/>
                  </a:spcBef>
                  <a:buFont typeface="Arial"/>
                  <a:buChar char="•"/>
                </a:pPr>
                <a:r>
                  <a:rPr lang="fr-FR" sz="2000" dirty="0"/>
                  <a:t>Example 2: Given the </a:t>
                </a:r>
                <a:r>
                  <a:rPr lang="fr-FR" sz="2000" dirty="0" err="1"/>
                  <a:t>measurements</a:t>
                </a:r>
                <a:r>
                  <a:rPr lang="fr-FR" sz="2000" dirty="0"/>
                  <a:t> of a </a:t>
                </a:r>
                <a:r>
                  <a:rPr lang="fr-FR" sz="2000" dirty="0" err="1"/>
                  <a:t>manufactured</a:t>
                </a:r>
                <a:r>
                  <a:rPr lang="fr-FR" sz="2000" dirty="0"/>
                  <a:t> </a:t>
                </a:r>
                <a:r>
                  <a:rPr lang="fr-FR" sz="2000" dirty="0" err="1"/>
                  <a:t>piece</a:t>
                </a:r>
                <a:r>
                  <a:rPr lang="fr-FR" sz="2000" dirty="0"/>
                  <a:t>, </a:t>
                </a:r>
                <a:r>
                  <a:rPr lang="fr-FR" sz="2000" dirty="0" err="1"/>
                  <a:t>predict</a:t>
                </a:r>
                <a:r>
                  <a:rPr lang="fr-FR" sz="2000" dirty="0"/>
                  <a:t> if </a:t>
                </a:r>
                <a:r>
                  <a:rPr lang="fr-FR" sz="2000" dirty="0" err="1"/>
                  <a:t>it</a:t>
                </a:r>
                <a:r>
                  <a:rPr lang="fr-FR" sz="2000" dirty="0"/>
                  <a:t> </a:t>
                </a:r>
                <a:r>
                  <a:rPr lang="fr-FR" sz="2000" dirty="0" err="1"/>
                  <a:t>is</a:t>
                </a:r>
                <a:r>
                  <a:rPr lang="fr-FR" sz="2000" dirty="0"/>
                  <a:t> intact (0) or </a:t>
                </a:r>
                <a:r>
                  <a:rPr lang="fr-FR" sz="2000" dirty="0" err="1"/>
                  <a:t>defective</a:t>
                </a:r>
                <a:r>
                  <a:rPr lang="fr-FR" sz="2000" dirty="0"/>
                  <a:t> (1).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7D0AACB-6D67-E4DC-A572-7C65CB2D5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06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232C0-C45C-1A93-580A-9746C8EA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B930-E419-2484-D388-D50B0890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Conclusion</a:t>
            </a:r>
            <a:endParaRPr lang="fr-FR" sz="3200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631409-3933-0838-3BC0-79AFFE36D125}"/>
              </a:ext>
            </a:extLst>
          </p:cNvPr>
          <p:cNvSpPr txBox="1">
            <a:spLocks/>
          </p:cNvSpPr>
          <p:nvPr/>
        </p:nvSpPr>
        <p:spPr>
          <a:xfrm>
            <a:off x="838200" y="161594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000" b="1" dirty="0"/>
              <a:t>Classification </a:t>
            </a:r>
            <a:r>
              <a:rPr lang="en-US" sz="2000" dirty="0"/>
              <a:t>separates data in 2 or more classes.</a:t>
            </a:r>
            <a:endParaRPr lang="en-US" sz="2000" b="1" dirty="0"/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000" b="1" dirty="0"/>
              <a:t>Logistic regression </a:t>
            </a:r>
            <a:r>
              <a:rPr lang="en-US" sz="2000" dirty="0"/>
              <a:t>classifies data between 0 and 1.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000" b="1" dirty="0"/>
              <a:t> </a:t>
            </a:r>
            <a:r>
              <a:rPr lang="en-US" sz="2000" dirty="0"/>
              <a:t>We use </a:t>
            </a:r>
            <a:r>
              <a:rPr lang="en-US" sz="2000" b="1" dirty="0"/>
              <a:t>gradient descent </a:t>
            </a:r>
            <a:r>
              <a:rPr lang="en-US" sz="2000" dirty="0"/>
              <a:t>to find the parameters of the model.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000" dirty="0"/>
              <a:t>Another classification algorithm is k-nearest </a:t>
            </a:r>
            <a:r>
              <a:rPr lang="en-US" sz="2000" dirty="0" err="1"/>
              <a:t>neighbours</a:t>
            </a:r>
            <a:r>
              <a:rPr lang="en-US" sz="2000" dirty="0"/>
              <a:t>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000" dirty="0"/>
              <a:t>It is important to normalize our data properly to avoid scale effect and leakage.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2000" dirty="0"/>
              <a:t>We can use the confusion matrix to determine how good the model is.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endParaRPr lang="en-US" sz="2000" dirty="0"/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endParaRPr lang="en-US" sz="2000" dirty="0"/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endParaRPr lang="en-US" sz="2000" dirty="0"/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93329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428508009]">
  <a:themeElements>
    <a:clrScheme name="Office">
      <a:dk1>
        <a:srgbClr val="1E2A38"/>
      </a:dk1>
      <a:lt1>
        <a:srgbClr val="FCFCF9"/>
      </a:lt1>
      <a:dk2>
        <a:srgbClr val="2C5F7C"/>
      </a:dk2>
      <a:lt2>
        <a:srgbClr val="EAEEF2"/>
      </a:lt2>
      <a:accent1>
        <a:srgbClr val="2E6E8E"/>
      </a:accent1>
      <a:accent2>
        <a:srgbClr val="4E9A85"/>
      </a:accent2>
      <a:accent3>
        <a:srgbClr val="D99A2B"/>
      </a:accent3>
      <a:accent4>
        <a:srgbClr val="C0504D"/>
      </a:accent4>
      <a:accent5>
        <a:srgbClr val="5B7A8C"/>
      </a:accent5>
      <a:accent6>
        <a:srgbClr val="8E7CC3"/>
      </a:accent6>
      <a:hlink>
        <a:srgbClr val="2E6E8E"/>
      </a:hlink>
      <a:folHlink>
        <a:srgbClr val="7E6B8F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49597D-634F-4738-9619-A71BCB4A06AD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7bb0b1ce-5276-4bbe-be16-22dc185dd4d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1346</TotalTime>
  <Words>180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 Math</vt:lpstr>
      <vt:lpstr>Georgia</vt:lpstr>
      <vt:lpstr>Office Theme [1783428508009]</vt:lpstr>
      <vt:lpstr>Support Vector Machines</vt:lpstr>
      <vt:lpstr>Supervised learning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Félicien Thomas Cazaux</dc:creator>
  <cp:lastModifiedBy>Hugo Félicien Thomas Cazaux</cp:lastModifiedBy>
  <cp:revision>142</cp:revision>
  <dcterms:created xsi:type="dcterms:W3CDTF">2026-07-07T12:38:16Z</dcterms:created>
  <dcterms:modified xsi:type="dcterms:W3CDTF">2026-07-20T13:05:44Z</dcterms:modified>
</cp:coreProperties>
</file>